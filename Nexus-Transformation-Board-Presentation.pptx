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3657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71C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E24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0" y="365760"/>
            <a:ext cx="1005840" cy="877824"/>
          </a:xfrm>
          <a:prstGeom prst="hexagon">
            <a:avLst/>
          </a:prstGeom>
          <a:solidFill>
            <a:srgbClr val="273A61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09760" y="914400"/>
            <a:ext cx="1005840" cy="877824"/>
          </a:xfrm>
          <a:prstGeom prst="hexagon">
            <a:avLst/>
          </a:prstGeom>
          <a:solidFill>
            <a:srgbClr val="865A2B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41280" y="365760"/>
            <a:ext cx="1005840" cy="877824"/>
          </a:xfrm>
          <a:prstGeom prst="hexagon">
            <a:avLst/>
          </a:prstGeom>
          <a:solidFill>
            <a:srgbClr val="535A62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0" y="1828800"/>
            <a:ext cx="1005840" cy="877824"/>
          </a:xfrm>
          <a:prstGeom prst="hexagon">
            <a:avLst/>
          </a:prstGeom>
          <a:solidFill>
            <a:srgbClr val="4A3C6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07040" y="1463040"/>
            <a:ext cx="1005840" cy="877824"/>
          </a:xfrm>
          <a:prstGeom prst="hexagon">
            <a:avLst/>
          </a:prstGeom>
          <a:solidFill>
            <a:srgbClr val="266A63"/>
          </a:solidFill>
          <a:ln w="12700">
            <a:solidFill>
              <a:srgbClr val="38B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875520" y="2560320"/>
            <a:ext cx="1005840" cy="877824"/>
          </a:xfrm>
          <a:prstGeom prst="hexagon">
            <a:avLst/>
          </a:prstGeom>
          <a:solidFill>
            <a:srgbClr val="205E3F"/>
          </a:solidFill>
          <a:ln w="12700">
            <a:solidFill>
              <a:srgbClr val="2D9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Transformation Codex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Nexus Transformation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strategic sensemaking game for organizational transformation.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patterns, replace anti-patterns, assign agents, and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 toward adaptive fitness.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52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the Enterprise Transformation Codex — NTT DATA DS&amp;A USA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572768"/>
            <a:ext cx="73152" cy="73152"/>
          </a:xfrm>
          <a:prstGeom prst="ellipse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89788" y="219267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Organizational transformation is a journey through patterns — not a project with an end date.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2F57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7432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Over Formula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universal best practice. The right pattern depends on your context, culture, and current fitness level.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7832" y="155448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266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27832" y="1554480"/>
            <a:ext cx="2743200" cy="54864"/>
          </a:xfrm>
          <a:prstGeom prst="rect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27832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♾️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64992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End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26517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 is continuous. Success is measured by rising fitness — not by reaching a fixed destination.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9904" y="155448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20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9904" y="1554480"/>
            <a:ext cx="2743200" cy="54864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9904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27064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Habit Change First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27064" y="26517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transformation = sustained behavior change. Structure follows culture, not the other way around.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51976" y="1554480"/>
            <a:ext cx="2743200" cy="256032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4A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51976" y="1554480"/>
            <a:ext cx="2743200" cy="54864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51976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89136" y="2286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 the Immune System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89136" y="26517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Organizations resist large-scale change. Work with the grain — use safe-to-fail experiments, not mandates.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11430000" cy="731520"/>
          </a:xfrm>
          <a:prstGeom prst="roundRect">
            <a:avLst>
              <a:gd name="adj" fmla="val 10000"/>
            </a:avLst>
          </a:prstGeom>
          <a:solidFill>
            <a:srgbClr val="1E2430"/>
          </a:solidFill>
          <a:ln w="12700">
            <a:solidFill>
              <a:srgbClr val="2138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43434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441655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Nexus Board makes the invisible visible — surfacing patterns, blockers, and transformation vectors that live in the organizational system.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Board — 3 Zones × 2 Lanes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hexagon sits in a zone (left→right) and a lane (top/bottom). Position encodes organizational meaning.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151920"/>
          </a:solidFill>
          <a:ln w="12700">
            <a:solidFill>
              <a:srgbClr val="6028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840480" cy="45720"/>
          </a:xfrm>
          <a:prstGeom prst="rect">
            <a:avLst/>
          </a:prstGeom>
          <a:solidFill>
            <a:srgbClr val="D94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◀ Current Reality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anti-patterns live.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Constraints, inertia, legacy habits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block progress.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474720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8B2A0"/>
                </a:solidFill>
              </a:rPr>
              <a:t>Strategic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66A63"/>
                </a:solidFill>
              </a:rPr>
              <a:t>Intent · Meaning · Why leadership cares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8943A"/>
                </a:solidFill>
              </a:rPr>
              <a:t>Operational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136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5A2B"/>
                </a:solidFill>
              </a:rPr>
              <a:t>Structure · Process · Daily habits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1188720" cy="1005840"/>
          </a:xfrm>
          <a:prstGeom prst="hexagon">
            <a:avLst/>
          </a:prstGeom>
          <a:solidFill>
            <a:srgbClr val="A0692F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0" y="3611880"/>
            <a:ext cx="1188720" cy="1005840"/>
          </a:xfrm>
          <a:prstGeom prst="hexagon">
            <a:avLst/>
          </a:prstGeom>
          <a:solidFill>
            <a:srgbClr val="A0692F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43400" y="141732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151920"/>
          </a:solidFill>
          <a:ln w="12700">
            <a:solidFill>
              <a:srgbClr val="664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343400" y="1417320"/>
            <a:ext cx="3840480" cy="4572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340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9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⟷ Transformation Path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6280" y="1874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Transitional space for experiments,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bridges, and safe-to-fail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2926080"/>
            <a:ext cx="3474720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26280" y="27432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8B2A0"/>
                </a:solidFill>
              </a:rPr>
              <a:t>Strategic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26280" y="26517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66A63"/>
                </a:solidFill>
              </a:rPr>
              <a:t>Intent · Meaning · Why leadership cares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26280" y="29718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8943A"/>
                </a:solidFill>
              </a:rPr>
              <a:t>Operational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26280" y="3136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5A2B"/>
                </a:solidFill>
              </a:rPr>
              <a:t>Structure · Process · Daily habits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709160" y="3429000"/>
            <a:ext cx="1188720" cy="1005840"/>
          </a:xfrm>
          <a:prstGeom prst="hexagon">
            <a:avLst/>
          </a:prstGeom>
          <a:solidFill>
            <a:srgbClr val="626971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63640" y="3611880"/>
            <a:ext cx="1188720" cy="1005840"/>
          </a:xfrm>
          <a:prstGeom prst="hexagon">
            <a:avLst/>
          </a:prstGeom>
          <a:solidFill>
            <a:srgbClr val="2C4270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321040" y="141732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151920"/>
          </a:solidFill>
          <a:ln w="12700">
            <a:solidFill>
              <a:srgbClr val="1B4A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21040" y="1417320"/>
            <a:ext cx="3840480" cy="45720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2104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 Fitness ▶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03920" y="1874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Enabling patterns and adaptive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capacity. The direction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travel.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03920" y="2926080"/>
            <a:ext cx="3474720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03920" y="27432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38B2A0"/>
                </a:solidFill>
              </a:rPr>
              <a:t>Strategic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03920" y="26517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66A63"/>
                </a:solidFill>
              </a:rPr>
              <a:t>Intent · Meaning · Why leadership cares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503920" y="29718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E8943A"/>
                </a:solidFill>
              </a:rPr>
              <a:t>Operational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31363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5A2B"/>
                </a:solidFill>
              </a:rPr>
              <a:t>Structure · Process · Daily habits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686800" y="3429000"/>
            <a:ext cx="1188720" cy="1005840"/>
          </a:xfrm>
          <a:prstGeom prst="hexagon">
            <a:avLst/>
          </a:prstGeom>
          <a:solidFill>
            <a:srgbClr val="2C4270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241280" y="3611880"/>
            <a:ext cx="1188720" cy="1005840"/>
          </a:xfrm>
          <a:prstGeom prst="hexagon">
            <a:avLst/>
          </a:prstGeom>
          <a:solidFill>
            <a:srgbClr val="2C4270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5760" y="5623560"/>
            <a:ext cx="11430000" cy="320040"/>
          </a:xfrm>
          <a:prstGeom prst="rightArrow">
            <a:avLst/>
          </a:prstGeom>
          <a:solidFill>
            <a:srgbClr val="1B2B3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56509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</a:rPr>
              <a:t>Direction of Transformation 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Hexagon Types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element on the board is a hexagon. Type determines its role in the transformation story.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749040" cy="5029200"/>
          </a:xfrm>
          <a:prstGeom prst="roundRect">
            <a:avLst>
              <a:gd name="adj" fmla="val 1951"/>
            </a:avLst>
          </a:prstGeom>
          <a:solidFill>
            <a:srgbClr val="1E2430"/>
          </a:solidFill>
          <a:ln w="12700">
            <a:solidFill>
              <a:srgbClr val="202F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749040" cy="50292"/>
          </a:xfrm>
          <a:prstGeom prst="rect">
            <a:avLst/>
          </a:prstGeom>
          <a:solidFill>
            <a:srgbClr val="3A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37360" y="1463040"/>
            <a:ext cx="1005840" cy="877824"/>
          </a:xfrm>
          <a:prstGeom prst="hexagon">
            <a:avLst/>
          </a:prstGeom>
          <a:solidFill>
            <a:srgbClr val="314C82"/>
          </a:solidFill>
          <a:ln w="1905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0" y="162763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5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2F4779"/>
                </a:solidFill>
              </a:rPr>
              <a:t>ENABLING BEHAVIORS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Organizational habits and practices that increase adaptive fitness.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 are the destination — they represent how high-performing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organizations behave in a given domain.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3A5A9C"/>
                </a:solidFill>
              </a:rPr>
              <a:t>EXAMPLES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4360" y="4325112"/>
            <a:ext cx="64008" cy="64008"/>
          </a:xfrm>
          <a:prstGeom prst="ellipse">
            <a:avLst/>
          </a:prstGeom>
          <a:solidFill>
            <a:srgbClr val="3A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42793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on User Needs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4617720"/>
            <a:ext cx="64008" cy="64008"/>
          </a:xfrm>
          <a:prstGeom prst="ellipse">
            <a:avLst/>
          </a:prstGeom>
          <a:solidFill>
            <a:srgbClr val="3A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4572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 Teams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910328"/>
            <a:ext cx="64008" cy="64008"/>
          </a:xfrm>
          <a:prstGeom prst="ellipse">
            <a:avLst/>
          </a:prstGeom>
          <a:solidFill>
            <a:srgbClr val="3A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48646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 Power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5202936"/>
            <a:ext cx="64008" cy="64008"/>
          </a:xfrm>
          <a:prstGeom prst="ellipse">
            <a:avLst/>
          </a:prstGeom>
          <a:solidFill>
            <a:srgbClr val="3A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51572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Safe-to-Fail Experiments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97680" y="1371600"/>
            <a:ext cx="3749040" cy="5029200"/>
          </a:xfrm>
          <a:prstGeom prst="roundRect">
            <a:avLst>
              <a:gd name="adj" fmla="val 1951"/>
            </a:avLst>
          </a:prstGeom>
          <a:solidFill>
            <a:srgbClr val="1E2430"/>
          </a:solidFill>
          <a:ln w="12700">
            <a:solidFill>
              <a:srgbClr val="664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97680" y="1371600"/>
            <a:ext cx="3749040" cy="50292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69280" y="1463040"/>
            <a:ext cx="1005840" cy="877824"/>
          </a:xfrm>
          <a:prstGeom prst="hexagon">
            <a:avLst/>
          </a:prstGeom>
          <a:solidFill>
            <a:srgbClr val="BD7A33"/>
          </a:solidFill>
          <a:ln w="1905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0" y="162763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34840" y="2423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9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Anti-Pattern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34840" y="2743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AE7131"/>
                </a:solidFill>
              </a:rPr>
              <a:t>CONSTRAINING BEHAVIORS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80560" y="3017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Organizational habits that limit adaptive capacity.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Anti-patterns are the starting point — they are not "bad people" but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systemic habits that made sense once and now hold the org back.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80560" y="40690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E8943A"/>
                </a:solidFill>
              </a:rPr>
              <a:t>EXAMPLES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26280" y="4325112"/>
            <a:ext cx="64008" cy="64008"/>
          </a:xfrm>
          <a:prstGeom prst="ellipse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45152" y="42793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Bang Change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26280" y="4617720"/>
            <a:ext cx="64008" cy="64008"/>
          </a:xfrm>
          <a:prstGeom prst="ellipse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45152" y="4572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Leadership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26280" y="4910328"/>
            <a:ext cx="64008" cy="64008"/>
          </a:xfrm>
          <a:prstGeom prst="ellipse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45152" y="48646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Inflation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26280" y="5202936"/>
            <a:ext cx="64008" cy="64008"/>
          </a:xfrm>
          <a:prstGeom prst="ellipse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45152" y="51572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Theater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0" y="1371600"/>
            <a:ext cx="3749040" cy="5029200"/>
          </a:xfrm>
          <a:prstGeom prst="roundRect">
            <a:avLst>
              <a:gd name="adj" fmla="val 1951"/>
            </a:avLst>
          </a:prstGeom>
          <a:solidFill>
            <a:srgbClr val="1E2430"/>
          </a:solidFill>
          <a:ln w="12700">
            <a:solidFill>
              <a:srgbClr val="414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29600" y="1371600"/>
            <a:ext cx="3749040" cy="50292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601200" y="1463040"/>
            <a:ext cx="1005840" cy="877824"/>
          </a:xfrm>
          <a:prstGeom prst="hexagon">
            <a:avLst/>
          </a:prstGeom>
          <a:solidFill>
            <a:srgbClr val="727A83"/>
          </a:solidFill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601200" y="162763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⬡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366760" y="2423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 Pattern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66760" y="2743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150" dirty="0">
                <a:solidFill>
                  <a:srgbClr val="6A717A"/>
                </a:solidFill>
              </a:rPr>
              <a:t>SAFE BRIDGES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412480" y="3017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Intermediate moves that bridge from an anti-pattern to a pattern.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 patterns are safe-to-fail experiments — low commitment,</a:t>
            </a:r>
            <a:endParaRPr lang="en-US" sz="8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learning, reversible.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412480" y="40690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B949E"/>
                </a:solidFill>
              </a:rPr>
              <a:t>EXAMPLES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458200" y="4325112"/>
            <a:ext cx="64008" cy="64008"/>
          </a:xfrm>
          <a:prstGeom prst="ellips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577072" y="42793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Sandbox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58200" y="4617720"/>
            <a:ext cx="64008" cy="64008"/>
          </a:xfrm>
          <a:prstGeom prst="ellips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577072" y="4572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Opt-In Participation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458200" y="4910328"/>
            <a:ext cx="64008" cy="64008"/>
          </a:xfrm>
          <a:prstGeom prst="ellips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577072" y="48646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Wins Broadcasting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458200" y="5202936"/>
            <a:ext cx="64008" cy="64008"/>
          </a:xfrm>
          <a:prstGeom prst="ellips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577072" y="51572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Sampling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5 Transformation Domains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Patterns, Anti-Patterns, and Transitions are classified by domain. Each domain has its own transformation dynamics.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1E2430"/>
          </a:solidFill>
          <a:ln w="12700">
            <a:solidFill>
              <a:srgbClr val="2F57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749040" cy="5029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039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&amp; Portfolio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682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325E8C"/>
                </a:solidFill>
              </a:rPr>
              <a:t>10P · 7A · 5T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5877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organization makes choices — investment logic, portfolio governance, strategic rhythm, and the ability to course-correct at scale.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1E2430"/>
          </a:solidFill>
          <a:ln w="12700">
            <a:solidFill>
              <a:srgbClr val="20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3749040" cy="50292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34840" y="2039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Delivery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23682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216542"/>
                </a:solidFill>
              </a:rPr>
              <a:t>8P · 6A · 4T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25877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teams build and ship — flow, cycle time, feedback loops, experiments, team stability, and the balance between speed and quality.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0" y="141732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1E2430"/>
          </a:solidFill>
          <a:ln w="12700">
            <a:solidFill>
              <a:srgbClr val="266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29600" y="1417320"/>
            <a:ext cx="3749040" cy="50292"/>
          </a:xfrm>
          <a:prstGeom prst="rect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66760" y="2039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&amp;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66760" y="23682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28726A"/>
                </a:solidFill>
              </a:rPr>
              <a:t>4P · 2A · 1T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0" y="25877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technology enables or constrains change — architectural decisions, standards, tooling choices, and readiness for continuous evolution.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31720" y="393192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1E2430"/>
          </a:solidFill>
          <a:ln w="12700">
            <a:solidFill>
              <a:srgbClr val="4A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331720" y="3931920"/>
            <a:ext cx="3749040" cy="50292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31720" y="4023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🧑‍🤝‍🧑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468880" y="45537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People, Culture &amp; Governance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8828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50406E"/>
                </a:solidFill>
              </a:rPr>
              <a:t>12P · 8A · 10T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1460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people and systems interact — power distribution, psychological safety, culture diversity, meaning-making, and governance design.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63640" y="393192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1E2430"/>
          </a:solidFill>
          <a:ln w="12700">
            <a:solidFill>
              <a:srgbClr val="86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63640" y="3931920"/>
            <a:ext cx="3749040" cy="50292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63640" y="4023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0" y="45537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9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8828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91602C"/>
                </a:solidFill>
              </a:rPr>
              <a:t>Cross-cutting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4652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organization runs day-to-day — operational habits, tooling adoption, process changes that support or block the transformation.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3A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Catalog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enabling behaviors across 5 domains — the north star for organizational transformation.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28600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4A90D9"/>
                </a:solidFill>
              </a:rPr>
              <a:t>Strategy &amp; Portfolio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B2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" y="1819656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8379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on User Needs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B2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" y="2167128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1854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is Iterative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478024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B2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" y="2514600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5328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Common Language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825496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B2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0624" y="2862072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28803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Assumptions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172968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B2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0624" y="3209544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2278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Determines Pattern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B2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0624" y="3557016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57530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as Value Flow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867912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B2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0624" y="3904488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39227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Stability Enables Change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215384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B2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0624" y="4251960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42702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Intensity &gt; Speed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4562856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B2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20624" y="4599432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" y="4617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End State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4910328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B2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20624" y="4946904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5800" y="49651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Correction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0" y="1417320"/>
            <a:ext cx="2286000" cy="36576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2D9D5E"/>
                </a:solidFill>
              </a:rPr>
              <a:t>Product &amp; Delivery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0" y="178308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52E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98064" y="1819656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063240" y="18379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Small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0" y="2130552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52E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98064" y="2167128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063240" y="21854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 Flow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0" y="2478024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52E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798064" y="2514600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063240" y="25328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Fast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743200" y="2825496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52E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798064" y="2862072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063240" y="28803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Effectiveness over Efficiency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0" y="3172968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52E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798064" y="3209544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063240" y="32278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Failure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0" y="352044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52E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798064" y="3557016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063240" y="357530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 Teams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43200" y="3867912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52E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798064" y="3904488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063240" y="39227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Loops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43200" y="4215384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52E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798064" y="4251960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063240" y="42702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Safe-to-Fail Experiments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120640" y="1417320"/>
            <a:ext cx="2286000" cy="36576"/>
          </a:xfrm>
          <a:prstGeom prst="rect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12064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38B2A0"/>
                </a:solidFill>
              </a:rPr>
              <a:t>Technology &amp; Architecture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120640" y="178308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73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175504" y="1819656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440680" y="18379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Appropriate Methods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120640" y="2130552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73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175504" y="2167128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440680" y="21854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for Evolution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120640" y="2478024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73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175504" y="2514600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440680" y="25328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Exceptional Standards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120640" y="2825496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173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5175504" y="2862072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440680" y="28803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Towards Action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498080" y="1417320"/>
            <a:ext cx="2286000" cy="36576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498080" y="1463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7B5EA7"/>
                </a:solidFill>
              </a:rPr>
              <a:t>People, Culture &amp; Governance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498080" y="178308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252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7552944" y="1819656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818120" y="18379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 Power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498080" y="2130552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252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552944" y="2167128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7818120" y="218541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Purpose &amp; Autonomy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498080" y="2478024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252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7552944" y="2514600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818120" y="25328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 Transparent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498080" y="2825496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252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7552944" y="2862072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818120" y="28803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One Culture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498080" y="3172968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252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7552944" y="3209544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7818120" y="32278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 Humble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498080" y="352044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252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552944" y="3557016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7818120" y="357530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as a Habit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498080" y="3867912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252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552944" y="3904488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7818120" y="392277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Meaning Drives Adoption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7498080" y="4215384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1E2430"/>
          </a:solidFill>
          <a:ln w="12700">
            <a:solidFill>
              <a:srgbClr val="2521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7552944" y="4251960"/>
            <a:ext cx="201168" cy="173736"/>
          </a:xfrm>
          <a:prstGeom prst="hexagon">
            <a:avLst/>
          </a:prstGeom>
          <a:solidFill>
            <a:srgbClr val="3A5A9C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818120" y="42702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 = Habit Change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9921240" y="146304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domain: cross-cutting patterns span multiple domains above.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Anti-Pattern Catalog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constraining behaviors that block organizational adaptation — start here to map Current Reality.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56032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4A90D9"/>
                </a:solidFill>
              </a:rPr>
              <a:t>Strategy &amp; Portfolio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" y="1819656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Bang Change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" y="2157984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167128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Copy-Paste Transformation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459736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" y="2496312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50545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Inflation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798064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0624" y="2834640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2843784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 Over Intensity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136392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0624" y="3172968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18211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Declaring End State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0624" y="3511296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52044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as Inventory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813048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0624" y="3849624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3858768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Without Anchors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1417320"/>
            <a:ext cx="2560320" cy="36576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0" y="1463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2D9D5E"/>
                </a:solidFill>
              </a:rPr>
              <a:t>Product &amp; Delivery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1783080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55264" y="1819656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20440" y="182880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Ritualistic Agility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0" y="2121408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55264" y="2157984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20440" y="2167128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Before Learning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0" y="2459736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55264" y="2496312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20440" y="2505456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Without Action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0" y="2798064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55264" y="2834640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20440" y="2843784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Optimization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3136392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55264" y="3172968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520440" y="318211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Unstable Teams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35040" y="1417320"/>
            <a:ext cx="2560320" cy="36576"/>
          </a:xfrm>
          <a:prstGeom prst="rect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35040" y="1463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38B2A0"/>
                </a:solidFill>
              </a:rPr>
              <a:t>Technology &amp; Architecture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035040" y="1783080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089904" y="1819656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55080" y="1828800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Without Arch Readiness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35040" y="2121408"/>
            <a:ext cx="256032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089904" y="2157984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55080" y="2167128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Sacrificed for Speed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686800" y="1417320"/>
            <a:ext cx="3200400" cy="36576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686800" y="1463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7B5EA7"/>
                </a:solidFill>
              </a:rPr>
              <a:t>People, Culture &amp; Governance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686800" y="1783080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741664" y="1819656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006840" y="1828800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Leadership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686800" y="2121408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741664" y="2157984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006840" y="2167128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Theater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686800" y="2459736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741664" y="2496312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9006840" y="2505456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Universal Change Mandate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686800" y="2798064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741664" y="2834640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006840" y="2843784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Treating Orgs as Machines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686800" y="3136392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741664" y="3172968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006840" y="3182112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 Dependency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686800" y="3474720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741664" y="3511296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9006840" y="3520440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Ignoring Power Dynamics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686800" y="3813048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741664" y="3849624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9006840" y="3858768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Blame-Driven Accountability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686800" y="4151376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741664" y="4187952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006840" y="4197096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Cosmetic Empowerment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8686800" y="4489704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8741664" y="4526280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9006840" y="4535424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Without Meaning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686800" y="4828032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8741664" y="4864608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006840" y="4873752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Ignoring Immune System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686800" y="5166360"/>
            <a:ext cx="3200400" cy="283464"/>
          </a:xfrm>
          <a:prstGeom prst="roundRect">
            <a:avLst>
              <a:gd name="adj" fmla="val 25806"/>
            </a:avLst>
          </a:prstGeom>
          <a:solidFill>
            <a:srgbClr val="1E2430"/>
          </a:solidFill>
          <a:ln w="12700">
            <a:solidFill>
              <a:srgbClr val="3A2C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741664" y="5202936"/>
            <a:ext cx="201168" cy="173736"/>
          </a:xfrm>
          <a:prstGeom prst="hexagon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9006840" y="5212080"/>
            <a:ext cx="2816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Over-Standardized Teams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7784" y="242599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 Pattern Catalog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safe bridges that enable movement from Anti-Patterns toward Patterns — low commitment, high learning.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1508760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14904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Opt-In Participation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0025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Voluntary involvement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2240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Reduces resistance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679192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679192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" y="2770632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4128" y="2752344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Sandbox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2644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Isolated safe environment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3502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Low-risk experimentation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941064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941064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8912" y="4032504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4128" y="401421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Wins Broadcasting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" y="4526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Successes shared widely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47640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Builds momentum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5202936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5202936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8912" y="5294376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24128" y="52760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Hypothesis-Driven Change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" y="5788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Explicit hypotheses tested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602589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Evidence-based decisions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6464808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6464808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38912" y="6556248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24128" y="6537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of Practice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" y="70500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Cross-team learning groups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488" y="72877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Organic knowledge spread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19272" y="14173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319272" y="1417320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392424" y="1508760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977640" y="14904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Pull-Based Scaling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29000" y="20025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Teams request, not imposed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429000" y="2240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Demand-driven growth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19272" y="2679192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319272" y="2679192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392424" y="2770632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977640" y="2752344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Walls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29000" y="32644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Data visible to all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429000" y="3502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Transparent progress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319272" y="3941064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319272" y="3941064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392424" y="4032504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977640" y="401421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Run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429000" y="4526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Old and new coexist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429000" y="47640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Safe migration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19272" y="5202936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319272" y="5202936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392424" y="5294376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977640" y="52760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Shadow Decision Mapping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429000" y="5788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Decisions traced to authority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429000" y="602589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Power dynamics revealed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319272" y="6464808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319272" y="6464808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3392424" y="6556248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977640" y="6537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Influencer Seeding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429000" y="70500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Key people engaged first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429000" y="72877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Social legitimacy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272784" y="14173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272784" y="1417320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345936" y="1508760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931152" y="14904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Reframing Without Renaming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382512" y="20025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Same terms, new meaning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82512" y="2240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Less identity threat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272784" y="2679192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272784" y="2679192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345936" y="2770632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931152" y="2752344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Sampling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382512" y="32644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Try before committing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382512" y="3502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Lower adoption barrier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272784" y="3941064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272784" y="3941064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6345936" y="4032504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931152" y="401421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 Viable Governance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382512" y="4526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Lightest governance that works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382512" y="47640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Speed with control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272784" y="5202936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272784" y="5202936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345936" y="5294376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931152" y="52760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Respect Mapping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6382512" y="5788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Old system value recognized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382512" y="602589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Less defensive reaction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272784" y="6464808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6272784" y="6464808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6345936" y="6556248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6931152" y="6537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 Before Structure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6382512" y="70500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Narrative leads, not org chart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382512" y="72877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Meaningful change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9226296" y="14173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9226296" y="1417320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9299448" y="1508760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9884664" y="14904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Time-Boxed Exception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36024" y="20025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Temporary relaxation of rules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9336024" y="2240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Safe experimentation window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9226296" y="2679192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9226296" y="2679192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9299448" y="2770632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9884664" y="2752344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Capability Seeding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36024" y="32644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Small capability investments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9336024" y="3502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Foundation for future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9226296" y="3941064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9226296" y="3941064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9299448" y="4032504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9884664" y="401421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Probes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36024" y="4526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Small investigative experiments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9336024" y="47640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Data before commitment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9226296" y="5202936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9226296" y="5202936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9299448" y="5294376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9884664" y="527608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Authority Trials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9336024" y="578815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Temporary authority shifts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9336024" y="602589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Test new decision models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9226296" y="6464808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E2430"/>
          </a:solidFill>
          <a:ln w="12700">
            <a:solidFill>
              <a:srgbClr val="3439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9226296" y="6464808"/>
            <a:ext cx="2788920" cy="36576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9299448" y="6556248"/>
            <a:ext cx="502920" cy="438912"/>
          </a:xfrm>
          <a:prstGeom prst="hexagon">
            <a:avLst/>
          </a:prstGeom>
          <a:solidFill>
            <a:srgbClr val="34394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9884664" y="6537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Continuity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9336024" y="70500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Signal: Change framed as evolution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9336024" y="72877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Identity preserved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9049" y="22860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Möbius Cycle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continuous phases guide transformation activity. No beginning, no end — a perpetual learning loop.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25880" y="3566160"/>
            <a:ext cx="9601200" cy="0"/>
          </a:xfrm>
          <a:prstGeom prst="line">
            <a:avLst/>
          </a:prstGeom>
          <a:noFill/>
          <a:ln w="25400">
            <a:solidFill>
              <a:srgbClr val="2A314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68880" y="3456432"/>
            <a:ext cx="822960" cy="228600"/>
          </a:xfrm>
          <a:prstGeom prst="rightArrow">
            <a:avLst/>
          </a:prstGeom>
          <a:solidFill>
            <a:srgbClr val="2F5782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1E2430"/>
          </a:solidFill>
          <a:ln w="12700">
            <a:solidFill>
              <a:srgbClr val="2F57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2011680" cy="5029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36192" y="1920240"/>
            <a:ext cx="420624" cy="420624"/>
          </a:xfrm>
          <a:prstGeom prst="ellipse">
            <a:avLst/>
          </a:prstGeom>
          <a:solidFill>
            <a:srgbClr val="1F344C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36192" y="197510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👁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 signals, friction, and bottlenecks in the system. Surface what is actually happening.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46320" y="3456432"/>
            <a:ext cx="822960" cy="228600"/>
          </a:xfrm>
          <a:prstGeom prst="rightArrow">
            <a:avLst/>
          </a:prstGeom>
          <a:solidFill>
            <a:srgbClr val="266A63"/>
          </a:solidFill>
          <a:ln w="12700">
            <a:solidFill>
              <a:srgbClr val="38B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08960" y="18288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1E2430"/>
          </a:solidFill>
          <a:ln w="12700">
            <a:solidFill>
              <a:srgbClr val="266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08960" y="1828800"/>
            <a:ext cx="2011680" cy="50292"/>
          </a:xfrm>
          <a:prstGeom prst="rect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13632" y="1920240"/>
            <a:ext cx="420624" cy="420624"/>
          </a:xfrm>
          <a:prstGeom prst="ellipse">
            <a:avLst/>
          </a:prstGeom>
          <a:solidFill>
            <a:srgbClr val="1A3D3C"/>
          </a:solidFill>
          <a:ln w="19050">
            <a:solidFill>
              <a:srgbClr val="38B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13632" y="197510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2A0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2423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20040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33375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 few habit shifts. Limit scope to what can actually be absorbed. Intensity over speed.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23760" y="3456432"/>
            <a:ext cx="822960" cy="228600"/>
          </a:xfrm>
          <a:prstGeom prst="rightArrow">
            <a:avLst/>
          </a:prstGeom>
          <a:solidFill>
            <a:srgbClr val="205E3F"/>
          </a:solidFill>
          <a:ln w="12700">
            <a:solidFill>
              <a:srgbClr val="2D9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0" y="18288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1E2430"/>
          </a:solidFill>
          <a:ln w="12700">
            <a:solidFill>
              <a:srgbClr val="20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0" y="1828800"/>
            <a:ext cx="2011680" cy="50292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91072" y="1920240"/>
            <a:ext cx="420624" cy="420624"/>
          </a:xfrm>
          <a:prstGeom prst="ellipse">
            <a:avLst/>
          </a:prstGeom>
          <a:solidFill>
            <a:srgbClr val="17372B"/>
          </a:solidFill>
          <a:ln w="19050">
            <a:solidFill>
              <a:srgbClr val="2D9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91072" y="197510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D5E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2423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5778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77840" y="33375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small, safe-to-fail change blocks. Test hypotheses. Create reversible probes.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601200" y="3456432"/>
            <a:ext cx="822960" cy="228600"/>
          </a:xfrm>
          <a:prstGeom prst="rightArrow">
            <a:avLst/>
          </a:prstGeom>
          <a:solidFill>
            <a:srgbClr val="865A2B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63840" y="18288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1E2430"/>
          </a:solidFill>
          <a:ln w="12700">
            <a:solidFill>
              <a:srgbClr val="86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863840" y="1828800"/>
            <a:ext cx="2011680" cy="50292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668512" y="1920240"/>
            <a:ext cx="420624" cy="420624"/>
          </a:xfrm>
          <a:prstGeom prst="ellipse">
            <a:avLst/>
          </a:prstGeom>
          <a:solidFill>
            <a:srgbClr val="493521"/>
          </a:solidFill>
          <a:ln w="1905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68512" y="197510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943A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863840" y="2423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95528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9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Stabilize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55280" y="33375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 what works. Codify minimally. Protect gains before spreading further.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241280" y="1828800"/>
            <a:ext cx="2011680" cy="3383280"/>
          </a:xfrm>
          <a:prstGeom prst="roundRect">
            <a:avLst>
              <a:gd name="adj" fmla="val 3636"/>
            </a:avLst>
          </a:prstGeom>
          <a:solidFill>
            <a:srgbClr val="1E2430"/>
          </a:solidFill>
          <a:ln w="12700">
            <a:solidFill>
              <a:srgbClr val="4A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241280" y="1828800"/>
            <a:ext cx="2011680" cy="50292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045952" y="1920240"/>
            <a:ext cx="420624" cy="420624"/>
          </a:xfrm>
          <a:prstGeom prst="ellipse">
            <a:avLst/>
          </a:prstGeom>
          <a:solidFill>
            <a:srgbClr val="2C263E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1045952" y="197510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5EA7"/>
                </a:solidFill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241280" y="2423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033272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Diffuse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332720" y="33375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Storytelling, peer adoption, and pull. Let the system request what works.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097280" y="5623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8B2A0"/>
                </a:solidFill>
              </a:rPr>
              <a:t>↺  Continuous — no fixed destination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2057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of Change &amp; Transformation Drivers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agents to hexagons and activate drivers to reflect real organizational context. Both influence the Fitness score.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1430000" cy="9144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OF CHANGE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1E2430"/>
          </a:solidFill>
          <a:ln w="12700">
            <a:solidFill>
              <a:srgbClr val="8082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0" y="1691640"/>
            <a:ext cx="822960" cy="822960"/>
          </a:xfrm>
          <a:prstGeom prst="ellipse">
            <a:avLst/>
          </a:prstGeom>
          <a:solidFill>
            <a:srgbClr val="2A2D32"/>
          </a:solidFill>
          <a:ln w="190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17647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DDDD"/>
                </a:solidFill>
              </a:rPr>
              <a:t>Human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Leaders, managers, and change champions who hold social authority. They legitimize change, create safety, and model new behaviors.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34930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9D5E"/>
                </a:solidFill>
              </a:rPr>
              <a:t>+0.5 pts per assignment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97680" y="160020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1E2430"/>
          </a:solidFill>
          <a:ln w="12700">
            <a:solidFill>
              <a:srgbClr val="4A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60720" y="1691640"/>
            <a:ext cx="822960" cy="822960"/>
          </a:xfrm>
          <a:prstGeom prst="ellipse">
            <a:avLst/>
          </a:prstGeom>
          <a:solidFill>
            <a:srgbClr val="1D1C2B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17647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3484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5EA7"/>
                </a:solidFill>
              </a:rPr>
              <a:t>Systemic 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2926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Governance structures, KPIs, OKRs, review cadences, and institutional levers. They embed change into how the organization operates.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0" y="34930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9D5E"/>
                </a:solidFill>
              </a:rPr>
              <a:t>+0.5 pts per assignment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229600" y="160020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1E2430"/>
          </a:solidFill>
          <a:ln w="12700">
            <a:solidFill>
              <a:srgbClr val="2F57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92640" y="1691640"/>
            <a:ext cx="822960" cy="822960"/>
          </a:xfrm>
          <a:prstGeom prst="ellipse">
            <a:avLst/>
          </a:prstGeom>
          <a:solidFill>
            <a:srgbClr val="172332"/>
          </a:solidFill>
          <a:ln w="1905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92640" y="176479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6676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0D9"/>
                </a:solidFill>
              </a:rPr>
              <a:t>AI 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2926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Automation, analytics, intelligence augmentation. AI amplifies human decision-making and removes friction from adaptive processes.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12480" y="34930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9D5E"/>
                </a:solidFill>
              </a:rPr>
              <a:t>+0.5 pts per assignment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11430000" cy="9144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794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9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 DRIVERS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0690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Activate the business drivers that frame this transformation session. Each active driver adds context and +0.3 pts to the Fitness score.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4805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3A2C1F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43A"/>
                </a:solidFill>
              </a:rPr>
              <a:t>⚡ Cost Efficiency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44805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3A2C1F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37560" y="45445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43A"/>
                </a:solidFill>
              </a:rPr>
              <a:t>⚡ Time-to-Market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44805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3A2C1F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9360" y="45445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43A"/>
                </a:solidFill>
              </a:rPr>
              <a:t>⚡ Innovation Stagnation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281160" y="44805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3A2C1F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81160" y="454456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43A"/>
                </a:solidFill>
              </a:rPr>
              <a:t>⚡ Customer Experience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983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3A2C1F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5047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43A"/>
                </a:solidFill>
              </a:rPr>
              <a:t>⚡ Decision Latency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37560" y="4983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3A2C1F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37560" y="5047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43A"/>
                </a:solidFill>
              </a:rPr>
              <a:t>⚡ Talent Attrition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9360" y="4983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3A2C1F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09360" y="5047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43A"/>
                </a:solidFill>
              </a:rPr>
              <a:t>⚡ Regulatory Pressure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281160" y="498348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3A2C1F"/>
          </a:solidFill>
          <a:ln w="127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81160" y="5047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43A"/>
                </a:solidFill>
              </a:rPr>
              <a:t>⚡ Change Fatigue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0352" y="182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Organizational Fitness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composite score (0–100) reflecting the organization's capacity to sense, adapt, and respond. Not a vanity metric — a learning instrument.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37944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1E2430"/>
          </a:solidFill>
          <a:ln w="12700">
            <a:solidFill>
              <a:srgbClr val="266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38462"/>
            <a:ext cx="50292" cy="749808"/>
          </a:xfrm>
          <a:prstGeom prst="rect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80–100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9110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8B2A0"/>
                </a:solidFill>
              </a:rPr>
              <a:t>ANTIFRAGILE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221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Gains strength from disruption. Decentralized, learning-forward.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734056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1E2430"/>
          </a:solidFill>
          <a:ln w="12700">
            <a:solidFill>
              <a:srgbClr val="20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734056"/>
            <a:ext cx="50292" cy="749808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8437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60–79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8072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9D5E"/>
                </a:solidFill>
              </a:rPr>
              <a:t>RESILIENT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31181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Recovers well. Feedback loops active. Patterns spreading.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630168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1E2430"/>
          </a:solidFill>
          <a:ln w="12700">
            <a:solidFill>
              <a:srgbClr val="86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50292" cy="749808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3989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40–59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943A"/>
                </a:solidFill>
              </a:rPr>
              <a:t>STABLE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40142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absorb moderate change. Some patterns present.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1E2430"/>
          </a:solidFill>
          <a:ln w="12700">
            <a:solidFill>
              <a:srgbClr val="6344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526280"/>
            <a:ext cx="50292" cy="749808"/>
          </a:xfrm>
          <a:prstGeom prst="rect">
            <a:avLst/>
          </a:prstGeom>
          <a:solidFill>
            <a:srgbClr val="A76D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636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6D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20–39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599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76D30"/>
                </a:solidFill>
              </a:rPr>
              <a:t>EMERGING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4910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is happening but fragile. Anti-patterns still dominant.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5422392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1E2430"/>
          </a:solidFill>
          <a:ln w="12700">
            <a:solidFill>
              <a:srgbClr val="7E3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5422392"/>
            <a:ext cx="50292" cy="749808"/>
          </a:xfrm>
          <a:prstGeom prst="rect">
            <a:avLst/>
          </a:prstGeom>
          <a:solidFill>
            <a:srgbClr val="D94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5532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4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0–19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54955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4A4A"/>
                </a:solidFill>
              </a:rPr>
              <a:t>FRAGILE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17320" y="5806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Structural brittleness. High inertia. Risk of collapse under pressure.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1371600"/>
            <a:ext cx="11430000" cy="914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14173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COMPONENTS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0" y="178308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1E2430"/>
          </a:solidFill>
          <a:ln w="12700">
            <a:solidFill>
              <a:srgbClr val="1A25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44768" y="1911096"/>
            <a:ext cx="201168" cy="201168"/>
          </a:xfrm>
          <a:prstGeom prst="ellipse">
            <a:avLst/>
          </a:prstGeom>
          <a:solidFill>
            <a:srgbClr val="3A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183794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A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Hex Zone Position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203911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 in path zones +3 · Transitions +2 · Anti-patterns −1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35040" y="2313432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1E2430"/>
          </a:solidFill>
          <a:ln w="12700">
            <a:solidFill>
              <a:srgbClr val="1A3D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44768" y="2441448"/>
            <a:ext cx="201168" cy="201168"/>
          </a:xfrm>
          <a:prstGeom prst="ellipse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46520" y="236829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 Adopted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256946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capability marker on board +5 pts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2843784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1E2430"/>
          </a:solidFill>
          <a:ln w="12700">
            <a:solidFill>
              <a:srgbClr val="17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144768" y="2971800"/>
            <a:ext cx="201168" cy="201168"/>
          </a:xfrm>
          <a:prstGeom prst="ellipse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46520" y="289864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S2F Experiments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46520" y="3099816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 per experiment run, +3 per experiment passed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3374136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1E2430"/>
          </a:solidFill>
          <a:ln w="12700">
            <a:solidFill>
              <a:srgbClr val="303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44768" y="3502152"/>
            <a:ext cx="201168" cy="201168"/>
          </a:xfrm>
          <a:prstGeom prst="ellips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46520" y="342900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Transition Practices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46520" y="363016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transition hex on board +1 pt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35040" y="3904488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1E2430"/>
          </a:solidFill>
          <a:ln w="12700">
            <a:solidFill>
              <a:srgbClr val="303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144768" y="4032504"/>
            <a:ext cx="201168" cy="201168"/>
          </a:xfrm>
          <a:prstGeom prst="ellipse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46520" y="395935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Repetitions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46520" y="416052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+0.5 pts per recorded repetition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35040" y="4434840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1E2430"/>
          </a:solidFill>
          <a:ln w="12700">
            <a:solidFill>
              <a:srgbClr val="2C2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44768" y="4562856"/>
            <a:ext cx="201168" cy="201168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446520" y="448970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&amp; Driver Links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46520" y="4690872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+0.5 per agent assigned, +0.5 per driver linked to hex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035040" y="4965192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1E2430"/>
          </a:solidFill>
          <a:ln w="12700">
            <a:solidFill>
              <a:srgbClr val="4935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144768" y="5093208"/>
            <a:ext cx="201168" cy="201168"/>
          </a:xfrm>
          <a:prstGeom prst="ellipse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446520" y="502005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 Bonus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46520" y="5221224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 pts per completed Möbius cycle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035040" y="5495544"/>
            <a:ext cx="5760720" cy="457200"/>
          </a:xfrm>
          <a:prstGeom prst="roundRect">
            <a:avLst>
              <a:gd name="adj" fmla="val 16000"/>
            </a:avLst>
          </a:prstGeom>
          <a:solidFill>
            <a:srgbClr val="1E2430"/>
          </a:solidFill>
          <a:ln w="12700">
            <a:solidFill>
              <a:srgbClr val="1F34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144768" y="5623560"/>
            <a:ext cx="201168" cy="201168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46520" y="555040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Pathway Bonus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46520" y="5751576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 per confirmed transition step, +5 for full pathway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8961" y="182409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 Pathways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an anti-pattern to its target pattern. Define the ordered transition steps needed to get there.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286000" cy="2560320"/>
          </a:xfrm>
          <a:prstGeom prst="roundRect">
            <a:avLst>
              <a:gd name="adj" fmla="val 3200"/>
            </a:avLst>
          </a:prstGeom>
          <a:solidFill>
            <a:srgbClr val="1E1510"/>
          </a:solidFill>
          <a:ln w="12700">
            <a:solidFill>
              <a:srgbClr val="86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286000" cy="4572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1463040" cy="1280160"/>
          </a:xfrm>
          <a:prstGeom prst="hexagon">
            <a:avLst/>
          </a:prstGeom>
          <a:solidFill>
            <a:srgbClr val="503922"/>
          </a:solidFill>
          <a:ln w="1905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943A"/>
                </a:solidFill>
              </a:rPr>
              <a:t>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943A"/>
                </a:solidFill>
              </a:rPr>
              <a:t>Anti-Pattern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D8694"/>
                </a:solidFill>
              </a:rPr>
              <a:t>e.g., Hero Leadership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2A0"/>
                </a:solidFill>
              </a:rPr>
              <a:t>🔗 Define Pathway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0360" y="2834640"/>
            <a:ext cx="640080" cy="256032"/>
          </a:xfrm>
          <a:prstGeom prst="rightArrow">
            <a:avLst/>
          </a:prstGeom>
          <a:solidFill>
            <a:srgbClr val="535A62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66160" y="1645920"/>
            <a:ext cx="4846320" cy="2926080"/>
          </a:xfrm>
          <a:prstGeom prst="roundRect">
            <a:avLst>
              <a:gd name="adj" fmla="val 2500"/>
            </a:avLst>
          </a:prstGeom>
          <a:solidFill>
            <a:srgbClr val="171C20"/>
          </a:solidFill>
          <a:ln w="12700">
            <a:solidFill>
              <a:srgbClr val="53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66160" y="1645920"/>
            <a:ext cx="4846320" cy="45720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1737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</a:rPr>
              <a:t>Transition Steps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D8694"/>
                </a:solidFill>
              </a:rPr>
              <a:t>In order of effort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49040" y="2286000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1E2430"/>
          </a:solidFill>
          <a:ln w="12700">
            <a:solidFill>
              <a:srgbClr val="20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58768" y="2432304"/>
            <a:ext cx="256032" cy="256032"/>
          </a:xfrm>
          <a:prstGeom prst="ellipse">
            <a:avLst/>
          </a:prstGeom>
          <a:solidFill>
            <a:srgbClr val="17372B"/>
          </a:solidFill>
          <a:ln w="12700">
            <a:solidFill>
              <a:srgbClr val="2D9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58768" y="244144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9D5E"/>
                </a:solidFill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2377440"/>
            <a:ext cx="347472" cy="301752"/>
          </a:xfrm>
          <a:prstGeom prst="hexagon">
            <a:avLst/>
          </a:prstGeom>
          <a:solidFill>
            <a:srgbClr val="343940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Shadow Decision Mapping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69480" y="2414016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132421"/>
          </a:solidFill>
          <a:ln w="10160">
            <a:solidFill>
              <a:srgbClr val="2D9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69480" y="244144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9D5E"/>
                </a:solidFill>
              </a:rPr>
              <a:t>✓ Done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749040" y="2944368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1E2430"/>
          </a:solidFill>
          <a:ln w="12700">
            <a:solidFill>
              <a:srgbClr val="20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58768" y="3090672"/>
            <a:ext cx="256032" cy="256032"/>
          </a:xfrm>
          <a:prstGeom prst="ellipse">
            <a:avLst/>
          </a:prstGeom>
          <a:solidFill>
            <a:srgbClr val="17372B"/>
          </a:solidFill>
          <a:ln w="12700">
            <a:solidFill>
              <a:srgbClr val="2D9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58768" y="309981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9D5E"/>
                </a:solidFill>
              </a:rPr>
              <a:t>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06240" y="3035808"/>
            <a:ext cx="347472" cy="301752"/>
          </a:xfrm>
          <a:prstGeom prst="hexagon">
            <a:avLst/>
          </a:prstGeom>
          <a:solidFill>
            <a:srgbClr val="343940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17720" y="3035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Opt-In Participation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69480" y="3072384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132421"/>
          </a:solidFill>
          <a:ln w="10160">
            <a:solidFill>
              <a:srgbClr val="2D9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69480" y="309981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D9D5E"/>
                </a:solidFill>
              </a:rPr>
              <a:t>✓ Done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749040" y="3602736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1E2430"/>
          </a:solidFill>
          <a:ln w="12700">
            <a:solidFill>
              <a:srgbClr val="4C52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58768" y="3749040"/>
            <a:ext cx="256032" cy="256032"/>
          </a:xfrm>
          <a:prstGeom prst="ellipse">
            <a:avLst/>
          </a:prstGeom>
          <a:solidFill>
            <a:srgbClr val="2C3139"/>
          </a:solidFill>
          <a:ln w="12700">
            <a:solidFill>
              <a:srgbClr val="7D86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58768" y="3758184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D8694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206240" y="3694176"/>
            <a:ext cx="347472" cy="301752"/>
          </a:xfrm>
          <a:prstGeom prst="hexagon">
            <a:avLst/>
          </a:prstGeom>
          <a:solidFill>
            <a:srgbClr val="343940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17720" y="36941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of Practice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69480" y="3730752"/>
            <a:ext cx="868680" cy="256032"/>
          </a:xfrm>
          <a:prstGeom prst="roundRect">
            <a:avLst>
              <a:gd name="adj" fmla="val 21429"/>
            </a:avLst>
          </a:prstGeom>
          <a:solidFill>
            <a:srgbClr val="1E2128"/>
          </a:solidFill>
          <a:ln w="10160">
            <a:solidFill>
              <a:srgbClr val="7D86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69480" y="375818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D8694"/>
                </a:solidFill>
              </a:rPr>
              <a:t>✓ Confirm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549640" y="2834640"/>
            <a:ext cx="640080" cy="256032"/>
          </a:xfrm>
          <a:prstGeom prst="rightArrow">
            <a:avLst/>
          </a:prstGeom>
          <a:solidFill>
            <a:srgbClr val="273A61"/>
          </a:solidFill>
          <a:ln w="1270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235440" y="1828800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101820"/>
          </a:solidFill>
          <a:ln w="12700">
            <a:solidFill>
              <a:srgbClr val="273A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235440" y="1828800"/>
            <a:ext cx="2468880" cy="45720"/>
          </a:xfrm>
          <a:prstGeom prst="rect">
            <a:avLst/>
          </a:prstGeom>
          <a:solidFill>
            <a:srgbClr val="3A5A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692640" y="1965960"/>
            <a:ext cx="1554480" cy="1280160"/>
          </a:xfrm>
          <a:prstGeom prst="hexagon">
            <a:avLst/>
          </a:prstGeom>
          <a:solidFill>
            <a:srgbClr val="1C2840"/>
          </a:solidFill>
          <a:ln w="19050">
            <a:solidFill>
              <a:srgbClr val="3A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692640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A5A9C"/>
                </a:solidFill>
              </a:rPr>
              <a:t>⬡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281160" y="2743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A5A9C"/>
                </a:solidFill>
              </a:rPr>
              <a:t>Target Pattern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281160" y="3017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D8694"/>
                </a:solidFill>
              </a:rPr>
              <a:t>e.g., Distribute Power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281160" y="3337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9D5E"/>
                </a:solidFill>
              </a:rPr>
              <a:t>+5 pts when complete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480060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E2430"/>
          </a:solidFill>
          <a:ln w="12700">
            <a:solidFill>
              <a:srgbClr val="1A3D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48640" y="49194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8B2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Hover an anti-pattern → click 🔗 to define its pathway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319272" y="480060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E2430"/>
          </a:solidFill>
          <a:ln w="12700">
            <a:solidFill>
              <a:srgbClr val="1F34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502152" y="49194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Pick a target pattern and add ordered transition steps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72784" y="480060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E2430"/>
          </a:solidFill>
          <a:ln w="12700">
            <a:solidFill>
              <a:srgbClr val="17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55664" y="49194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D9D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Confirm each transition as successful experiments complete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226296" y="4800600"/>
            <a:ext cx="2834640" cy="594360"/>
          </a:xfrm>
          <a:prstGeom prst="roundRect">
            <a:avLst>
              <a:gd name="adj" fmla="val 12308"/>
            </a:avLst>
          </a:prstGeom>
          <a:solidFill>
            <a:srgbClr val="1E2430"/>
          </a:solidFill>
          <a:ln w="12700">
            <a:solidFill>
              <a:srgbClr val="4935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409176" y="49194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E89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 +1 per step confirmed · +5 for full pathway completion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Mechanics — Connections &amp; Markers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placement: connect hexagons to show transformation flow, and mark hexes with experiments and capabilities.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1430000" cy="914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CONNECTIONS (LINKS)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1E2430"/>
          </a:solidFill>
          <a:ln w="12700">
            <a:solidFill>
              <a:srgbClr val="2F57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566928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Transition Path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66699"/>
                </a:solidFill>
              </a:rPr>
              <a:t>Style: Dashed arrow 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D8694"/>
                </a:solidFill>
              </a:rPr>
              <a:t>Shows the transformation journey. Typically Anti-Pattern → Transition → Pattern. Visualizes the intended path of migration.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1E2430"/>
          </a:solidFill>
          <a:ln w="12700">
            <a:solidFill>
              <a:srgbClr val="266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669280" cy="36576"/>
          </a:xfrm>
          <a:prstGeom prst="rect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17190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2A0"/>
                </a:solidFill>
              </a:rPr>
              <a:t>Transition Nexus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01168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A7D73"/>
                </a:solidFill>
              </a:rPr>
              <a:t>Style: Solid L-shaped arrow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24028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D8694"/>
                </a:solidFill>
              </a:rPr>
              <a:t>Shows a nexus point where multiple transitions converge or diverge. Represents leverage points in the system.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11430000" cy="9144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2004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E894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MARKERS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1E2430"/>
          </a:solidFill>
          <a:ln w="12700">
            <a:solidFill>
              <a:srgbClr val="535A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352044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282C33"/>
          </a:solidFill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566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949E"/>
                </a:solidFill>
              </a:rPr>
              <a:t>S2F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17320" y="35478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</a:rPr>
              <a:t>Safe-to-Fail Experiment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950208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</a:rPr>
              <a:t>Mark a hexagon as a safe-to-fail probe. A small, bounded test with a clear hypothesis and observable outcome. Can be marked as Run or Passed.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50474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D5E"/>
                </a:solidFill>
              </a:rPr>
              <a:t>+2 pts run · +3 pts passed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338328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1E2430"/>
          </a:solidFill>
          <a:ln w="12700">
            <a:solidFill>
              <a:srgbClr val="266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37960" y="352044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173233"/>
          </a:solidFill>
          <a:ln w="19050">
            <a:solidFill>
              <a:srgbClr val="38B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37960" y="3566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2A0"/>
                </a:solidFill>
              </a:rPr>
              <a:t>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60920" y="35478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2A0"/>
                </a:solidFill>
              </a:rPr>
              <a:t>Capability Marker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950208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D8694"/>
                </a:solidFill>
              </a:rPr>
              <a:t>Mark organizational capabilities that need to be built, acquired, or leveraged for the transformation to succeed. Track what the organization is investing in.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92240" y="50474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D5E"/>
                </a:solidFill>
              </a:rPr>
              <a:t>+5 pts per capability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EC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a Nexus Session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D86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structured facilitation journey for leadership teams, transformation leads, and Agile coaches.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1E2430"/>
          </a:solidFill>
          <a:ln w="12700">
            <a:solidFill>
              <a:srgbClr val="2F57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74904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557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Set 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112264"/>
            <a:ext cx="64008" cy="64008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Name the organization / team / initiative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596896"/>
            <a:ext cx="64008" cy="64008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542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Identify active Transformation Drivers (Cost, Speed, etc.)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3081528"/>
            <a:ext cx="64008" cy="64008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0266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Agree on the current Möbius Cycle phase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97680" y="1417320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1E2430"/>
          </a:solidFill>
          <a:ln w="12700">
            <a:solidFill>
              <a:srgbClr val="7E31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0" y="1417320"/>
            <a:ext cx="3749040" cy="45720"/>
          </a:xfrm>
          <a:prstGeom prst="rect">
            <a:avLst/>
          </a:prstGeom>
          <a:solidFill>
            <a:srgbClr val="D94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8348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3033"/>
                </a:solidFill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4A4A"/>
                </a:solidFill>
              </a:rPr>
              <a:t>Map Current Reality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98848" y="2112264"/>
            <a:ext cx="64008" cy="64008"/>
          </a:xfrm>
          <a:prstGeom prst="ellipse">
            <a:avLst/>
          </a:prstGeom>
          <a:solidFill>
            <a:srgbClr val="D94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Drag Anti-Patterns that resonate onto the board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98848" y="2596896"/>
            <a:ext cx="64008" cy="64008"/>
          </a:xfrm>
          <a:prstGeom prst="ellipse">
            <a:avLst/>
          </a:prstGeom>
          <a:solidFill>
            <a:srgbClr val="D94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45152" y="2542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Place them in Current Reality (bottom-left area)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98848" y="3081528"/>
            <a:ext cx="64008" cy="64008"/>
          </a:xfrm>
          <a:prstGeom prst="ellipse">
            <a:avLst/>
          </a:prstGeom>
          <a:solidFill>
            <a:srgbClr val="D94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45152" y="30266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Add Strategic and Operational perspectives separately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9600" y="1417320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1E2430"/>
          </a:solidFill>
          <a:ln w="12700">
            <a:solidFill>
              <a:srgbClr val="86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29600" y="1417320"/>
            <a:ext cx="3749040" cy="4572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915400" y="1508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3572A"/>
                </a:solidFill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15400" y="1691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43A"/>
                </a:solidFill>
              </a:rPr>
              <a:t>Define Pathways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30768" y="2112264"/>
            <a:ext cx="64008" cy="64008"/>
          </a:xfrm>
          <a:prstGeom prst="ellipse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77072" y="2057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For each Anti-Pattern: click 🔗 to define a target Pattern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30768" y="2596896"/>
            <a:ext cx="64008" cy="64008"/>
          </a:xfrm>
          <a:prstGeom prst="ellipse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77072" y="2542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Add ordered Transition steps to the pathway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430768" y="3081528"/>
            <a:ext cx="64008" cy="64008"/>
          </a:xfrm>
          <a:prstGeom prst="ellipse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77072" y="30266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Place Transitions on the Transformation Path zone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3931920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1E2430"/>
          </a:solidFill>
          <a:ln w="12700">
            <a:solidFill>
              <a:srgbClr val="4A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65760" y="3931920"/>
            <a:ext cx="3749040" cy="4572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🧑‍🤝‍🧑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051560" y="4023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93B64"/>
                </a:solidFill>
              </a:rPr>
              <a:t>04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5156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</a:rPr>
              <a:t>Assign Agents &amp; Markers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4626864"/>
            <a:ext cx="64008" cy="64008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3232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Select Human / Systemic / AI agents and click hexes to assign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6928" y="5111496"/>
            <a:ext cx="64008" cy="64008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13232" y="5056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Mark critical hexes as S2F experiments or Capabilities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6928" y="5596128"/>
            <a:ext cx="64008" cy="64008"/>
          </a:xfrm>
          <a:prstGeom prst="ellipse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3232" y="55412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Link Drivers to hexes for strategic alignment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297680" y="3931920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1E2430"/>
          </a:solidFill>
          <a:ln w="12700">
            <a:solidFill>
              <a:srgbClr val="20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297680" y="3931920"/>
            <a:ext cx="3749040" cy="45720"/>
          </a:xfrm>
          <a:prstGeom prst="rect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29768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✓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4983480" y="4023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5C3D"/>
                </a:solidFill>
              </a:rPr>
              <a:t>05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8348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D5E"/>
                </a:solidFill>
              </a:rPr>
              <a:t>Progress &amp; Confirm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498848" y="4626864"/>
            <a:ext cx="64008" cy="64008"/>
          </a:xfrm>
          <a:prstGeom prst="ellipse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645152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Confirm Transitions as experiments are completed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498848" y="5111496"/>
            <a:ext cx="64008" cy="64008"/>
          </a:xfrm>
          <a:prstGeom prst="ellipse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645152" y="5056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Advance the Möbius Cycle as phases complete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498848" y="5596128"/>
            <a:ext cx="64008" cy="64008"/>
          </a:xfrm>
          <a:prstGeom prst="ellipse">
            <a:avLst/>
          </a:prstGeom>
          <a:solidFill>
            <a:srgbClr val="2D9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45152" y="55412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Watch the Fitness score rise toward Antifragile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8229600" y="3931920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1E2430"/>
          </a:solidFill>
          <a:ln w="12700">
            <a:solidFill>
              <a:srgbClr val="266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229600" y="3931920"/>
            <a:ext cx="3749040" cy="45720"/>
          </a:xfrm>
          <a:prstGeom prst="rect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229600" y="4023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8915400" y="4023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760"/>
                </a:solidFill>
              </a:rPr>
              <a:t>06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91540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2A0"/>
                </a:solidFill>
              </a:rPr>
              <a:t>Export &amp; Persist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430768" y="4626864"/>
            <a:ext cx="64008" cy="64008"/>
          </a:xfrm>
          <a:prstGeom prst="ellipse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577072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Export the session as JSON for documentation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430768" y="5111496"/>
            <a:ext cx="64008" cy="64008"/>
          </a:xfrm>
          <a:prstGeom prst="ellipse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577072" y="50566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Save to the database for multi-session continuity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430768" y="5596128"/>
            <a:ext cx="64008" cy="64008"/>
          </a:xfrm>
          <a:prstGeom prst="ellipse">
            <a:avLst/>
          </a:prstGeom>
          <a:solidFill>
            <a:srgbClr val="38B2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577072" y="5541264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D8694"/>
                </a:solidFill>
              </a:rPr>
              <a:t>Compare Fitness scores across game sessions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" y="274320"/>
            <a:ext cx="731520" cy="640080"/>
          </a:xfrm>
          <a:prstGeom prst="hexagon">
            <a:avLst/>
          </a:prstGeom>
          <a:solidFill>
            <a:srgbClr val="1E243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731520" cy="640080"/>
          </a:xfrm>
          <a:prstGeom prst="hexagon">
            <a:avLst/>
          </a:prstGeom>
          <a:solidFill>
            <a:srgbClr val="1E243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731520" cy="640080"/>
          </a:xfrm>
          <a:prstGeom prst="hexagon">
            <a:avLst/>
          </a:prstGeom>
          <a:solidFill>
            <a:srgbClr val="1E243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0" y="91440"/>
            <a:ext cx="731520" cy="640080"/>
          </a:xfrm>
          <a:prstGeom prst="hexagon">
            <a:avLst/>
          </a:prstGeom>
          <a:solidFill>
            <a:srgbClr val="1E243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0" y="5303520"/>
            <a:ext cx="731520" cy="640080"/>
          </a:xfrm>
          <a:prstGeom prst="hexagon">
            <a:avLst/>
          </a:prstGeom>
          <a:solidFill>
            <a:srgbClr val="1E243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55680" y="4480560"/>
            <a:ext cx="731520" cy="640080"/>
          </a:xfrm>
          <a:prstGeom prst="hexagon">
            <a:avLst/>
          </a:prstGeom>
          <a:solidFill>
            <a:srgbClr val="1E243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0" y="5943600"/>
            <a:ext cx="731520" cy="640080"/>
          </a:xfrm>
          <a:prstGeom prst="hexagon">
            <a:avLst/>
          </a:prstGeom>
          <a:solidFill>
            <a:srgbClr val="1E243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0" y="4114800"/>
            <a:ext cx="731520" cy="640080"/>
          </a:xfrm>
          <a:prstGeom prst="hexagon">
            <a:avLst/>
          </a:prstGeom>
          <a:solidFill>
            <a:srgbClr val="1E243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12801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CF1"/>
                </a:solidFill>
              </a:rPr>
              <a:t>The transformation has no end state.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4400" y="19202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38B2A0"/>
                </a:solidFill>
              </a:rPr>
              <a:t>Success is a rising fitness score — not a destination.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E2430"/>
          </a:solidFill>
          <a:ln w="12700">
            <a:solidFill>
              <a:srgbClr val="205E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2D9D5E"/>
                </a:solidFill>
              </a:rPr>
              <a:t>🧬  Transformation = sustained habit change across the system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27889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E2430"/>
          </a:solidFill>
          <a:ln w="12700">
            <a:solidFill>
              <a:srgbClr val="86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E8943A"/>
                </a:solidFill>
              </a:rPr>
              <a:t>🛡️  Work with the immune system, not against 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0" y="278892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E2430"/>
          </a:solidFill>
          <a:ln w="12700">
            <a:solidFill>
              <a:srgbClr val="4A3C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38160" y="3017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7B5EA7"/>
                </a:solidFill>
              </a:rPr>
              <a:t>♾️  Every Möbius cycle makes the organization more Antifragile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CF1"/>
                </a:solidFill>
              </a:rPr>
              <a:t>Start your Nexus Board session today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434840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8B2A0"/>
                </a:solidFill>
              </a:rPr>
              <a:t>nexus-transformation-board.vercel.app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630936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525C"/>
                </a:solidFill>
              </a:rPr>
              <a:t>Enterprise Transformation Codex · NTT DATA DS&amp;A USA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2137</Words>
  <Application>Microsoft Macintosh PowerPoint</Application>
  <PresentationFormat>Custom</PresentationFormat>
  <Paragraphs>423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Lopes Mello, Bruno</cp:lastModifiedBy>
  <cp:revision>2</cp:revision>
  <dcterms:created xsi:type="dcterms:W3CDTF">2026-03-03T03:44:26Z</dcterms:created>
  <dcterms:modified xsi:type="dcterms:W3CDTF">2026-03-03T03:47:53Z</dcterms:modified>
</cp:coreProperties>
</file>